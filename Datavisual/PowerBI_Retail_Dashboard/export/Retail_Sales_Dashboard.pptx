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Monthly Sales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2022-01</c:v>
                </c:pt>
                <c:pt idx="1">
                  <c:v>2022-04</c:v>
                </c:pt>
                <c:pt idx="2">
                  <c:v>2022-07</c:v>
                </c:pt>
                <c:pt idx="3">
                  <c:v>2022-10</c:v>
                </c:pt>
                <c:pt idx="4">
                  <c:v>2023-01</c:v>
                </c:pt>
                <c:pt idx="5">
                  <c:v>2023-04</c:v>
                </c:pt>
                <c:pt idx="6">
                  <c:v>2023-07</c:v>
                </c:pt>
                <c:pt idx="7">
                  <c:v>2023-10</c:v>
                </c:pt>
                <c:pt idx="8">
                  <c:v>2024-01</c:v>
                </c:pt>
                <c:pt idx="9">
                  <c:v>2024-04</c:v>
                </c:pt>
                <c:pt idx="10">
                  <c:v>2024-07</c:v>
                </c:pt>
                <c:pt idx="11">
                  <c:v>2024-10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41257.43</c:v>
                </c:pt>
                <c:pt idx="1">
                  <c:v>59603.85</c:v>
                </c:pt>
                <c:pt idx="2">
                  <c:v>62303.64</c:v>
                </c:pt>
                <c:pt idx="3">
                  <c:v>87319.94</c:v>
                </c:pt>
                <c:pt idx="4">
                  <c:v>88252.39</c:v>
                </c:pt>
                <c:pt idx="5">
                  <c:v>88167.76</c:v>
                </c:pt>
                <c:pt idx="6">
                  <c:v>105531.9</c:v>
                </c:pt>
                <c:pt idx="7">
                  <c:v>96381.25</c:v>
                </c:pt>
                <c:pt idx="8">
                  <c:v>103113.15</c:v>
                </c:pt>
                <c:pt idx="9">
                  <c:v>108140.83</c:v>
                </c:pt>
                <c:pt idx="10">
                  <c:v>85022.24</c:v>
                </c:pt>
                <c:pt idx="11">
                  <c:v>97642.83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Sales by Category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Technology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1868140.37</c:v>
                </c:pt>
                <c:pt idx="1">
                  <c:v>1263184.0</c:v>
                </c:pt>
                <c:pt idx="2">
                  <c:v>71050.68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/>
            </a:pPr>
            <a:r>
              <a:t>Sales by Segment (Donut)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1699410.55</c:v>
                </c:pt>
                <c:pt idx="1">
                  <c:v>975342.52</c:v>
                </c:pt>
                <c:pt idx="2">
                  <c:v>527621.98</c:v>
                </c:pt>
              </c:numCache>
            </c:numRef>
          </c:val>
        </c:ser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Top 10 Products by Sales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Laptop Pro 15-inch</c:v>
                </c:pt>
                <c:pt idx="1">
                  <c:v>Conference Table 8-Sea…</c:v>
                </c:pt>
                <c:pt idx="2">
                  <c:v>Sofa Sectional Gray</c:v>
                </c:pt>
                <c:pt idx="3">
                  <c:v>Lounge Chair Leather</c:v>
                </c:pt>
                <c:pt idx="4">
                  <c:v>Executive Desk Oak</c:v>
                </c:pt>
                <c:pt idx="5">
                  <c:v>Tablet 10-inch</c:v>
                </c:pt>
                <c:pt idx="6">
                  <c:v>Monitor 27-inch 4K</c:v>
                </c:pt>
                <c:pt idx="7">
                  <c:v>Standing Desk Adjustab…</c:v>
                </c:pt>
                <c:pt idx="8">
                  <c:v>Smart Watch Series X</c:v>
                </c:pt>
                <c:pt idx="9">
                  <c:v>Office Chair Ergonomic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552629.18</c:v>
                </c:pt>
                <c:pt idx="1">
                  <c:v>478299.69</c:v>
                </c:pt>
                <c:pt idx="2">
                  <c:v>430456.26</c:v>
                </c:pt>
                <c:pt idx="3">
                  <c:v>252319.72</c:v>
                </c:pt>
                <c:pt idx="4">
                  <c:v>199340.41</c:v>
                </c:pt>
                <c:pt idx="5">
                  <c:v>185780.5</c:v>
                </c:pt>
                <c:pt idx="6">
                  <c:v>182112.47</c:v>
                </c:pt>
                <c:pt idx="7">
                  <c:v>149705.19</c:v>
                </c:pt>
                <c:pt idx="8">
                  <c:v>114733.72</c:v>
                </c:pt>
                <c:pt idx="9">
                  <c:v>96643.94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/>
            </a:pPr>
            <a:r>
              <a:t>Sales by Payment Mode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Credit Card</c:v>
                </c:pt>
                <c:pt idx="1">
                  <c:v>Online</c:v>
                </c:pt>
                <c:pt idx="2">
                  <c:v>Debit Card</c:v>
                </c:pt>
                <c:pt idx="3">
                  <c:v>Cash</c:v>
                </c:pt>
                <c:pt idx="4">
                  <c:v>UPI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1219606.87</c:v>
                </c:pt>
                <c:pt idx="1">
                  <c:v>761936.68</c:v>
                </c:pt>
                <c:pt idx="2">
                  <c:v>710313.02</c:v>
                </c:pt>
                <c:pt idx="3">
                  <c:v>277521.86</c:v>
                </c:pt>
                <c:pt idx="4">
                  <c:v>232996.62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Sales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Central</c:v>
                </c:pt>
                <c:pt idx="2">
                  <c:v>West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1058636.65</c:v>
                </c:pt>
                <c:pt idx="1">
                  <c:v>897623.39</c:v>
                </c:pt>
                <c:pt idx="2">
                  <c:v>849888.64</c:v>
                </c:pt>
                <c:pt idx="3">
                  <c:v>396226.37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Monthly Quantity Sold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2022-01</c:v>
                </c:pt>
                <c:pt idx="1">
                  <c:v>2022-04</c:v>
                </c:pt>
                <c:pt idx="2">
                  <c:v>2022-07</c:v>
                </c:pt>
                <c:pt idx="3">
                  <c:v>2022-10</c:v>
                </c:pt>
                <c:pt idx="4">
                  <c:v>2023-01</c:v>
                </c:pt>
                <c:pt idx="5">
                  <c:v>2023-04</c:v>
                </c:pt>
                <c:pt idx="6">
                  <c:v>2023-07</c:v>
                </c:pt>
                <c:pt idx="7">
                  <c:v>2023-10</c:v>
                </c:pt>
                <c:pt idx="8">
                  <c:v>2024-01</c:v>
                </c:pt>
                <c:pt idx="9">
                  <c:v>2024-04</c:v>
                </c:pt>
                <c:pt idx="10">
                  <c:v>2024-07</c:v>
                </c:pt>
                <c:pt idx="11">
                  <c:v>2024-10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165</c:v>
                </c:pt>
                <c:pt idx="1">
                  <c:v>246</c:v>
                </c:pt>
                <c:pt idx="2">
                  <c:v>324</c:v>
                </c:pt>
                <c:pt idx="3">
                  <c:v>362</c:v>
                </c:pt>
                <c:pt idx="4">
                  <c:v>383</c:v>
                </c:pt>
                <c:pt idx="5">
                  <c:v>364</c:v>
                </c:pt>
                <c:pt idx="6">
                  <c:v>380</c:v>
                </c:pt>
                <c:pt idx="7">
                  <c:v>401</c:v>
                </c:pt>
                <c:pt idx="8">
                  <c:v>410</c:v>
                </c:pt>
                <c:pt idx="9">
                  <c:v>421</c:v>
                </c:pt>
                <c:pt idx="10">
                  <c:v>410</c:v>
                </c:pt>
                <c:pt idx="11">
                  <c:v>434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Retail Sales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Executive · Product · Geographic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2525"/>
                </a:solidFill>
                <a:latin typeface="Calibri"/>
              </a:rPr>
              <a:t>5,200 orders  |  2022-01-02 → 2024-12-30
Total Sales $3.20M  ·  Total Profit $656.0K  ·  Profit Margin 20.5%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Calibri"/>
              </a:rPr>
              <a:t>This deck exports the interactive dashboard visuals for presentations and teaching.
Theme: Corporate Blue / Dark Gray / White  ·  Source: Retail_Sales_StarSchema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05050"/>
                </a:solidFill>
                <a:latin typeface="Calibri"/>
              </a:rPr>
              <a:t>Power BI Retail Dashboard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Page 1 — Executive Dashboard · KPI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033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05050"/>
                </a:solidFill>
                <a:latin typeface="Calibri"/>
              </a:rP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2527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Calibri"/>
              </a:rPr>
              <a:t>$3.20M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6459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Calibri"/>
              </a:rPr>
              <a:t>AOV $616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96012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033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05050"/>
                </a:solidFill>
                <a:latin typeface="Calibri"/>
              </a:rPr>
              <a:t>Total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136" y="12527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Calibri"/>
              </a:rPr>
              <a:t>$656.0K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6459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Calibri"/>
              </a:rPr>
              <a:t>Margin 20.5%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96012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033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05050"/>
                </a:solidFill>
                <a:latin typeface="Calibri"/>
              </a:rPr>
              <a:t>Total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2527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Calibri"/>
              </a:rPr>
              <a:t>5,200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6459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Calibri"/>
              </a:rPr>
              <a:t>Distinct Order 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960120"/>
            <a:ext cx="2651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9991" y="103327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05050"/>
                </a:solidFill>
                <a:latin typeface="Calibri"/>
              </a:rPr>
              <a:t>Total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1" y="1252728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Calibri"/>
              </a:rPr>
              <a:t>850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1" y="16459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Calibri"/>
              </a:rPr>
              <a:t>Unique Customer IDs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240280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23134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05050"/>
                </a:solidFill>
                <a:latin typeface="Calibri"/>
              </a:rPr>
              <a:t>KPI — Sales vs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2532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Calibri"/>
              </a:rPr>
              <a:t>$3.20M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2926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Calibri"/>
              </a:rPr>
              <a:t>Target $3.46M  ·  Achievement 92.6%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240280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23134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05050"/>
                </a:solidFill>
                <a:latin typeface="Calibri"/>
              </a:rPr>
              <a:t>KPI — Profit vs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532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Calibri"/>
              </a:rPr>
              <a:t>$656.0K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2926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05050"/>
                </a:solidFill>
                <a:latin typeface="Calibri"/>
              </a:rPr>
              <a:t>Target $721.6K  ·  Achievement 90.9%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411480" y="3657600"/>
          <a:ext cx="56692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309360" y="3657600"/>
          <a:ext cx="539496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Page 1 — Executive Dashboard · Segment Mix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118872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371600"/>
            <a:ext cx="4114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5544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2525"/>
                </a:solidFill>
                <a:latin typeface="Calibri"/>
              </a:rPr>
              <a:t>Segment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1031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Calibri"/>
              </a:rPr>
              <a:t>Consumer
$1.70M  (53.1%)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92607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Calibri"/>
              </a:rPr>
              <a:t>Corporate
$975.3K  (30.5%)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74903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05050"/>
                </a:solidFill>
                <a:latin typeface="Calibri"/>
              </a:rPr>
              <a:t>Home Office
$527.6K  (16.5%)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0292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Calibri"/>
              </a:rPr>
              <a:t>Slicers in live dashboard:
Year · Category · 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Page 2 — Product Analysis · Top Products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14400"/>
          <a:ext cx="5852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4821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Product Name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Laptop Pro 15-inch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$552.6K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$78.4K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Conference Table 8-Seat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$478.3K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$102.1K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Sofa Sectional Gray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$430.5K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$78.5K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Lounge Chair Leather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362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$252.3K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$51.7K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Executive Desk Oak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$199.3K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$57.8K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Tablet 10-inch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499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$185.8K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$34.3K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Monitor 27-inch 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$182.1K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$29.1K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Standing Desk Adjustable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358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$149.7K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$46.6K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Smart Watch Series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$114.7K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$19.8K</a:t>
                      </a:r>
                    </a:p>
                  </a:txBody>
                  <a:tcPr/>
                </a:tc>
              </a:tr>
              <a:tr h="48214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Office Chair Ergonomic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427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$96.6K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52525"/>
                          </a:solidFill>
                          <a:latin typeface="Calibri"/>
                        </a:rPr>
                        <a:t>$22.2K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914400"/>
          <a:ext cx="539496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Page 2 — Product Analysis · Matrix (Category × Year)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10287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2022 Sales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2022 Profit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2023 Sales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2023 Profit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2024 Sales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2024 Profit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2525"/>
                          </a:solidFill>
                          <a:latin typeface="Calibri"/>
                        </a:rPr>
                        <a:t>Furniture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$523.2K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$120.0K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$644.6K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$138.9K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$700.3K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$160.4K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2525"/>
                          </a:solidFill>
                          <a:latin typeface="Calibri"/>
                        </a:rPr>
                        <a:t>Office Supplies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$19.1K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$3.5K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$23.2K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$4.5K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$28.8K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$5.6K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2525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$367.1K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$63.2K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$454.0K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$81.1K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$442.1K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52525"/>
                          </a:solidFill>
                          <a:latin typeface="Calibri"/>
                        </a:rPr>
                        <a:t>$78.7K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05050"/>
                </a:solidFill>
                <a:latin typeface="Calibri"/>
              </a:rPr>
              <a:t>In Power BI: Matrix rows = Category → Sub Category, columns = Year, values = Sales &amp; Profit (with drill-down).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Page 2 — Product Analysis · Advanced Visuals</a:t>
            </a:r>
          </a:p>
        </p:txBody>
      </p:sp>
      <p:pic>
        <p:nvPicPr>
          <p:cNvPr id="5" name="Picture 4" descr="tre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5760720" cy="2651760"/>
          </a:xfrm>
          <a:prstGeom prst="rect">
            <a:avLst/>
          </a:prstGeom>
        </p:spPr>
      </p:pic>
      <p:pic>
        <p:nvPicPr>
          <p:cNvPr id="6" name="Picture 5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68680"/>
            <a:ext cx="5577840" cy="2651760"/>
          </a:xfrm>
          <a:prstGeom prst="rect">
            <a:avLst/>
          </a:prstGeom>
        </p:spPr>
      </p:pic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657600"/>
            <a:ext cx="4754880" cy="283464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03520" y="3657600"/>
          <a:ext cx="6400800" cy="2926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Page 3 — Geographic Dashboard · Maps</a:t>
            </a:r>
          </a:p>
        </p:txBody>
      </p:sp>
      <p:pic>
        <p:nvPicPr>
          <p:cNvPr id="5" name="Picture 4" descr="map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852160" cy="5303520"/>
          </a:xfrm>
          <a:prstGeom prst="rect">
            <a:avLst/>
          </a:prstGeom>
        </p:spPr>
      </p:pic>
      <p:pic>
        <p:nvPicPr>
          <p:cNvPr id="6" name="Picture 5" descr="filled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Page 3 — Geographic Dashboard · Trends</a:t>
            </a:r>
          </a:p>
        </p:txBody>
      </p:sp>
      <p:pic>
        <p:nvPicPr>
          <p:cNvPr id="5" name="Picture 4" descr="area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6949440" cy="2743200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06640" y="914400"/>
          <a:ext cx="43891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0040" y="3840480"/>
          <a:ext cx="11521440" cy="2651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Visual Coverage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14300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Card
     Executive — Sales, Profit, Orders,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3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KPI
     Executive — Sales/Profit vs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Slicer
     Live HTML/Power BI — Year, Category,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79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Line Chart
     Monthly Sales Trend · Monthly Quantity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7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Column Chart
     Sales by Category · Sales by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Donut Chart
     Sales by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Table
     Product metrics (Name, Category, Qty, Sales, Profit)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1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Matrix
     Category × Year Sales &amp;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0515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Bar Chart
     Top 10 Products by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69163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Tree Map
     Sales by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331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Scatter Chart
     Sales vs Profit (size = Quantity)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97179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Pie Chart
     Sales by Payment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61187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Funnel Chart
     Lead → Qualified → Proposal → Negotiation → Won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Map
     Sales by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892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Filled Map
     Sales by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553211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2525"/>
                </a:solidFill>
                <a:latin typeface="Calibri"/>
              </a:rPr>
              <a:t>✓  Area Chart
     Monthly Profit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194560"/>
            <a:ext cx="12191695" cy="21945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Interactive dashboard: PowerBI_Retail_Dashboard/dashboard/dashboard.html
Power BI build guide: docs/02_Build_Guide.md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